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8028432" y="-548640"/>
            <a:ext cx="6217920" cy="7772400"/>
          </a:xfrm>
          <a:prstGeom prst="arc">
            <a:avLst/>
          </a:prstGeom>
          <a:solidFill>
            <a:srgbClr val="0D4E52">
              <a:alpha val="75000"/>
            </a:srgbClr>
          </a:solidFill>
          <a:ln w="38100">
            <a:solidFill>
              <a:srgbClr val="1F60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43800" y="1143000"/>
            <a:ext cx="3337560" cy="3337560"/>
          </a:xfrm>
          <a:prstGeom prst="ellipse">
            <a:avLst/>
          </a:prstGeom>
          <a:solidFill>
            <a:srgbClr val="155E60"/>
          </a:solidFill>
          <a:ln w="25400">
            <a:solidFill>
              <a:srgbClr val="2A72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1719072"/>
            <a:ext cx="2148840" cy="2148840"/>
          </a:xfrm>
          <a:prstGeom prst="ellipse">
            <a:avLst/>
          </a:prstGeom>
          <a:solidFill>
            <a:srgbClr val="116D63"/>
          </a:solidFill>
          <a:ln w="12700">
            <a:solidFill>
              <a:srgbClr val="116D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40496" y="228600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6DF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F+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13232" y="740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6DF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INGENIERÍA DE SOFTWARE 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48132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Gym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13232" y="2395728"/>
            <a:ext cx="64008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CF6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Digitalización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DCF6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Control de Membresías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13232" y="4078224"/>
            <a:ext cx="5303520" cy="0"/>
          </a:xfrm>
          <a:prstGeom prst="line">
            <a:avLst/>
          </a:prstGeom>
          <a:noFill/>
          <a:ln w="25400">
            <a:solidFill>
              <a:srgbClr val="66DF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43982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DF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DE ESTUDIO: FITLIFE BARRIO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" y="486460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9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Universidad de los Llanos  ·  Docente: Olga Lucero Vega Márquez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" y="5404104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9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Johan Santiago Marín Obando · Franky Jhoel Camargo Silva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9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Juan David Vergaño López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" y="64282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6DF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ENTREVISTA SIMULADA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09728"/>
          </a:xfrm>
          <a:prstGeom prst="rect">
            <a:avLst/>
          </a:prstGeom>
          <a:solidFill>
            <a:srgbClr val="0A9B81"/>
          </a:solidFill>
          <a:ln w="12700">
            <a:solidFill>
              <a:srgbClr val="0A9B8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9B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PRIMERA ENTREVISTA ·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83210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comprendemos del gimnasio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373368"/>
            <a:ext cx="10789920" cy="0"/>
          </a:xfrm>
          <a:prstGeom prst="line">
            <a:avLst/>
          </a:prstGeom>
          <a:noFill/>
          <a:ln w="12700">
            <a:solidFill>
              <a:srgbClr val="D8E9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739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58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FITLIFE BARRIO  /  CONTROL GYM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8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02/05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1664208"/>
            <a:ext cx="10789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38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FitLife Barrio es un gimnasio de barrio que vende acceso por modalidades de membresía.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76656" y="2468880"/>
            <a:ext cx="26060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8E9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468880"/>
            <a:ext cx="2606040" cy="100584"/>
          </a:xfrm>
          <a:prstGeom prst="rect">
            <a:avLst/>
          </a:prstGeom>
          <a:solidFill>
            <a:srgbClr val="0A9B81"/>
          </a:solidFill>
          <a:ln w="12700">
            <a:solidFill>
              <a:srgbClr val="0A9B8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871216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DÍA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77824" y="3282696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8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 de corta duración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29584" y="2468880"/>
            <a:ext cx="26060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8E9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9584" y="2468880"/>
            <a:ext cx="2606040" cy="100584"/>
          </a:xfrm>
          <a:prstGeom prst="rect">
            <a:avLst/>
          </a:prstGeom>
          <a:solidFill>
            <a:srgbClr val="0A9B81"/>
          </a:solidFill>
          <a:ln w="12700">
            <a:solidFill>
              <a:srgbClr val="0A9B8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752" y="2871216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QUINCENA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30752" y="3282696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8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días de vigencia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82512" y="2468880"/>
            <a:ext cx="26060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8E9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82512" y="2468880"/>
            <a:ext cx="2606040" cy="100584"/>
          </a:xfrm>
          <a:prstGeom prst="rect">
            <a:avLst/>
          </a:prstGeom>
          <a:solidFill>
            <a:srgbClr val="0A9B81"/>
          </a:solidFill>
          <a:ln w="12700">
            <a:solidFill>
              <a:srgbClr val="0A9B8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871216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MENSUALIDAD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83680" y="3282696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8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días de vigencia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235440" y="2468880"/>
            <a:ext cx="26060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8E9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35440" y="2468880"/>
            <a:ext cx="2606040" cy="100584"/>
          </a:xfrm>
          <a:prstGeom prst="rect">
            <a:avLst/>
          </a:prstGeom>
          <a:solidFill>
            <a:srgbClr val="0A9B81"/>
          </a:solidFill>
          <a:ln w="12700">
            <a:solidFill>
              <a:srgbClr val="0A9B8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36608" y="2871216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PASE DE PAREJA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36608" y="3282696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8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personas bajo el mismo plan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6656" y="4645152"/>
            <a:ext cx="10881360" cy="832104"/>
          </a:xfrm>
          <a:prstGeom prst="roundRect">
            <a:avLst>
              <a:gd name="adj" fmla="val 13187"/>
            </a:avLst>
          </a:prstGeom>
          <a:solidFill>
            <a:srgbClr val="E7F5F0"/>
          </a:solidFill>
          <a:ln w="12700">
            <a:solidFill>
              <a:srgbClr val="E7F5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44" y="4892040"/>
            <a:ext cx="10405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Interpretación que queremos validar: el trabajo crítico está en recepción, no en los equipos de entrenamiento.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09728"/>
          </a:xfrm>
          <a:prstGeom prst="rect">
            <a:avLst/>
          </a:prstGeom>
          <a:solidFill>
            <a:srgbClr val="0A9B81"/>
          </a:solidFill>
          <a:ln w="12700">
            <a:solidFill>
              <a:srgbClr val="0A9B8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9B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PRIMERA ENTREVISTA ·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83210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Así funciona la operación actual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373368"/>
            <a:ext cx="10789920" cy="0"/>
          </a:xfrm>
          <a:prstGeom prst="line">
            <a:avLst/>
          </a:prstGeom>
          <a:noFill/>
          <a:ln w="12700">
            <a:solidFill>
              <a:srgbClr val="D8E9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739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58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FITLIFE BARRIO  /  CONTROL GYM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8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03/05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874520"/>
            <a:ext cx="2075688" cy="2606040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 w="12700">
            <a:solidFill>
              <a:srgbClr val="D8E9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2194560"/>
            <a:ext cx="594360" cy="594360"/>
          </a:xfrm>
          <a:prstGeom prst="ellipse">
            <a:avLst/>
          </a:prstGeom>
          <a:solidFill>
            <a:srgbClr val="102B38"/>
          </a:solidFill>
          <a:ln w="12700">
            <a:solidFill>
              <a:srgbClr val="102B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235000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6968" y="3108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36118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58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Cédula, nombre y celular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61488" y="2862072"/>
            <a:ext cx="246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A9B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3026664" y="1874520"/>
            <a:ext cx="2075688" cy="2606040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 w="12700">
            <a:solidFill>
              <a:srgbClr val="D8E9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58184" y="2194560"/>
            <a:ext cx="594360" cy="594360"/>
          </a:xfrm>
          <a:prstGeom prst="ellipse">
            <a:avLst/>
          </a:prstGeom>
          <a:solidFill>
            <a:srgbClr val="102B38"/>
          </a:solidFill>
          <a:ln w="12700">
            <a:solidFill>
              <a:srgbClr val="102B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58184" y="235000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27832" y="3108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Asignar / renovar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09544" y="36118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58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Elegir plan y vigencia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02352" y="2862072"/>
            <a:ext cx="246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A9B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500" dirty="0"/>
          </a:p>
        </p:txBody>
      </p:sp>
      <p:sp>
        <p:nvSpPr>
          <p:cNvPr id="20" name="Shape 18"/>
          <p:cNvSpPr/>
          <p:nvPr/>
        </p:nvSpPr>
        <p:spPr>
          <a:xfrm>
            <a:off x="5367528" y="1874520"/>
            <a:ext cx="2075688" cy="2606040"/>
          </a:xfrm>
          <a:prstGeom prst="roundRect">
            <a:avLst>
              <a:gd name="adj" fmla="val 5286"/>
            </a:avLst>
          </a:prstGeom>
          <a:solidFill>
            <a:srgbClr val="E2F6ED"/>
          </a:solidFill>
          <a:ln w="25400">
            <a:solidFill>
              <a:srgbClr val="0A9B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99048" y="2194560"/>
            <a:ext cx="594360" cy="594360"/>
          </a:xfrm>
          <a:prstGeom prst="ellipse">
            <a:avLst/>
          </a:prstGeom>
          <a:solidFill>
            <a:srgbClr val="0A9B81"/>
          </a:solidFill>
          <a:ln w="12700">
            <a:solidFill>
              <a:srgbClr val="0A9B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99048" y="235000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68696" y="3108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550408" y="36118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58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 si puede ingresar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43216" y="2862072"/>
            <a:ext cx="246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A9B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500" dirty="0"/>
          </a:p>
        </p:txBody>
      </p:sp>
      <p:sp>
        <p:nvSpPr>
          <p:cNvPr id="26" name="Shape 24"/>
          <p:cNvSpPr/>
          <p:nvPr/>
        </p:nvSpPr>
        <p:spPr>
          <a:xfrm>
            <a:off x="7708392" y="1874520"/>
            <a:ext cx="2075688" cy="2606040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 w="12700">
            <a:solidFill>
              <a:srgbClr val="D8E9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39912" y="2194560"/>
            <a:ext cx="594360" cy="594360"/>
          </a:xfrm>
          <a:prstGeom prst="ellipse">
            <a:avLst/>
          </a:prstGeom>
          <a:solidFill>
            <a:srgbClr val="102B38"/>
          </a:solidFill>
          <a:ln w="12700">
            <a:solidFill>
              <a:srgbClr val="102B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39912" y="235000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909560" y="3108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Cobrar / gastar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891272" y="36118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58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entradas y salidas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784080" y="2862072"/>
            <a:ext cx="246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A9B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500" dirty="0"/>
          </a:p>
        </p:txBody>
      </p:sp>
      <p:sp>
        <p:nvSpPr>
          <p:cNvPr id="32" name="Shape 30"/>
          <p:cNvSpPr/>
          <p:nvPr/>
        </p:nvSpPr>
        <p:spPr>
          <a:xfrm>
            <a:off x="10049256" y="1874520"/>
            <a:ext cx="2075688" cy="2606040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 w="12700">
            <a:solidFill>
              <a:srgbClr val="D8E9E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780776" y="2194560"/>
            <a:ext cx="594360" cy="594360"/>
          </a:xfrm>
          <a:prstGeom prst="ellipse">
            <a:avLst/>
          </a:prstGeom>
          <a:solidFill>
            <a:srgbClr val="102B38"/>
          </a:solidFill>
          <a:ln w="12700">
            <a:solidFill>
              <a:srgbClr val="102B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80776" y="235000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250424" y="3108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Cerrar y entregar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0232136" y="36118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58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Cuadre y comprobante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1520" y="504748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4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de validación: ¿el recorrido representa la jornada real y quién interviene en cada paso?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09728"/>
          </a:xfrm>
          <a:prstGeom prst="rect">
            <a:avLst/>
          </a:prstGeom>
          <a:solidFill>
            <a:srgbClr val="0A9B81"/>
          </a:solidFill>
          <a:ln w="12700">
            <a:solidFill>
              <a:srgbClr val="0A9B8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9B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PRIMERA ENTREVISTA ·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83210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Problemas que buscamos resolver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373368"/>
            <a:ext cx="10789920" cy="0"/>
          </a:xfrm>
          <a:prstGeom prst="line">
            <a:avLst/>
          </a:prstGeom>
          <a:noFill/>
          <a:ln w="12700">
            <a:solidFill>
              <a:srgbClr val="D8E9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739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58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FITLIFE BARRIO  /  CONTROL GYM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8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04/05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04088" y="1810512"/>
            <a:ext cx="5230368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E9E7"/>
            </a:solidFill>
            <a:prstDash val="solid"/>
          </a:ln>
          <a:effectLst>
            <a:outerShdw sx="100000" sy="100000" kx="0" ky="0" algn="bl" rotWithShape="0" blurRad="13970" dist="50800" dir="2700000">
              <a:srgbClr val="C8DCDB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2039112"/>
            <a:ext cx="493776" cy="493776"/>
          </a:xfrm>
          <a:prstGeom prst="ellipse">
            <a:avLst/>
          </a:prstGeom>
          <a:solidFill>
            <a:srgbClr val="E7F5F0"/>
          </a:solidFill>
          <a:ln w="12700">
            <a:solidFill>
              <a:srgbClr val="E7F5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180844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9B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54480" y="2066544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 en libreta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2468880"/>
            <a:ext cx="4151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8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información se busca y actualiza a mano.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08776" y="1810512"/>
            <a:ext cx="5230368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E9E7"/>
            </a:solidFill>
            <a:prstDash val="solid"/>
          </a:ln>
          <a:effectLst>
            <a:outerShdw sx="100000" sy="100000" kx="0" ky="0" algn="bl" rotWithShape="0" blurRad="13970" dist="50800" dir="2700000">
              <a:srgbClr val="C8DCDB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37376" y="2039112"/>
            <a:ext cx="493776" cy="493776"/>
          </a:xfrm>
          <a:prstGeom prst="ellipse">
            <a:avLst/>
          </a:prstGeom>
          <a:solidFill>
            <a:srgbClr val="E7F5F0"/>
          </a:solidFill>
          <a:ln w="12700">
            <a:solidFill>
              <a:srgbClr val="E7F5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2180844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9B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59168" y="2066544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Dudas de vigencia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59168" y="2468880"/>
            <a:ext cx="4151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8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siempre es claro quién está al día.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4088" y="3410712"/>
            <a:ext cx="5230368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E9E7"/>
            </a:solidFill>
            <a:prstDash val="solid"/>
          </a:ln>
          <a:effectLst>
            <a:outerShdw sx="100000" sy="100000" kx="0" ky="0" algn="bl" rotWithShape="0" blurRad="13970" dist="50800" dir="2700000">
              <a:srgbClr val="C8DCDB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2688" y="3639312"/>
            <a:ext cx="493776" cy="493776"/>
          </a:xfrm>
          <a:prstGeom prst="ellipse">
            <a:avLst/>
          </a:prstGeom>
          <a:solidFill>
            <a:srgbClr val="E7F5F0"/>
          </a:solidFill>
          <a:ln w="12700">
            <a:solidFill>
              <a:srgbClr val="E7F5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3781044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9B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54480" y="3666744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Pagos y gastos separados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4069080"/>
            <a:ext cx="4151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8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Cuesta calcular qué debe quedar en caja.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08776" y="3410712"/>
            <a:ext cx="5230368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E9E7"/>
            </a:solidFill>
            <a:prstDash val="solid"/>
          </a:ln>
          <a:effectLst>
            <a:outerShdw sx="100000" sy="100000" kx="0" ky="0" algn="bl" rotWithShape="0" blurRad="13970" dist="50800" dir="2700000">
              <a:srgbClr val="C8DCDB">
                <a:alpha val="11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37376" y="3639312"/>
            <a:ext cx="493776" cy="493776"/>
          </a:xfrm>
          <a:prstGeom prst="ellipse">
            <a:avLst/>
          </a:prstGeom>
          <a:solidFill>
            <a:srgbClr val="E7F5F0"/>
          </a:solidFill>
          <a:ln w="12700">
            <a:solidFill>
              <a:srgbClr val="E7F5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37376" y="3781044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9B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59168" y="3666744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Comprobantes manuales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59168" y="4069080"/>
            <a:ext cx="4151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8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difícil verificar pagos anteriores.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3232" y="5166360"/>
            <a:ext cx="10789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Hipótesis inicial: centralizar registros permitirá atender con menos pasos y mayor trazabilidad.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09728"/>
          </a:xfrm>
          <a:prstGeom prst="rect">
            <a:avLst/>
          </a:prstGeom>
          <a:solidFill>
            <a:srgbClr val="0A9B81"/>
          </a:solidFill>
          <a:ln w="12700">
            <a:solidFill>
              <a:srgbClr val="0A9B8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9B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PRIMERA ENTREVISTA ·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83210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propuesto y decisiones pendientes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373368"/>
            <a:ext cx="10789920" cy="0"/>
          </a:xfrm>
          <a:prstGeom prst="line">
            <a:avLst/>
          </a:prstGeom>
          <a:noFill/>
          <a:ln w="12700">
            <a:solidFill>
              <a:srgbClr val="D8E9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4739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58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FITLIFE BARRIO  /  CONTROL GYM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8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05/05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2093976" cy="1527048"/>
          </a:xfrm>
          <a:prstGeom prst="roundRect">
            <a:avLst>
              <a:gd name="adj" fmla="val 7186"/>
            </a:avLst>
          </a:prstGeom>
          <a:solidFill>
            <a:srgbClr val="0D4E52"/>
          </a:solidFill>
          <a:ln w="12700">
            <a:solidFill>
              <a:srgbClr val="0D4E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476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DF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RP-01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3134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Semáforo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7706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DEE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PRIORIDAD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71800" y="1755648"/>
            <a:ext cx="2093976" cy="1527048"/>
          </a:xfrm>
          <a:prstGeom prst="roundRect">
            <a:avLst>
              <a:gd name="adj" fmla="val 7186"/>
            </a:avLst>
          </a:prstGeom>
          <a:solidFill>
            <a:srgbClr val="FFFFFF"/>
          </a:solidFill>
          <a:ln w="12700">
            <a:solidFill>
              <a:srgbClr val="D8E9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9476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9B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RP-02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54680" y="23134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54680" y="27706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8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modalidades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0" y="1755648"/>
            <a:ext cx="2093976" cy="1527048"/>
          </a:xfrm>
          <a:prstGeom prst="roundRect">
            <a:avLst>
              <a:gd name="adj" fmla="val 7186"/>
            </a:avLst>
          </a:prstGeom>
          <a:solidFill>
            <a:srgbClr val="FFFFFF"/>
          </a:solidFill>
          <a:ln w="12700">
            <a:solidFill>
              <a:srgbClr val="D8E9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19476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9B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RP-03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0" y="23134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0" y="27706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8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Alta y renovación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35240" y="1755648"/>
            <a:ext cx="2093976" cy="1527048"/>
          </a:xfrm>
          <a:prstGeom prst="roundRect">
            <a:avLst>
              <a:gd name="adj" fmla="val 7186"/>
            </a:avLst>
          </a:prstGeom>
          <a:solidFill>
            <a:srgbClr val="FFFFFF"/>
          </a:solidFill>
          <a:ln w="12700">
            <a:solidFill>
              <a:srgbClr val="D8E9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19476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9B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RP-04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18120" y="23134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Caja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818120" y="27706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8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Ingresos y gastos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966960" y="1755648"/>
            <a:ext cx="2093976" cy="1527048"/>
          </a:xfrm>
          <a:prstGeom prst="roundRect">
            <a:avLst>
              <a:gd name="adj" fmla="val 7186"/>
            </a:avLst>
          </a:prstGeom>
          <a:solidFill>
            <a:srgbClr val="FFFFFF"/>
          </a:solidFill>
          <a:ln w="12700">
            <a:solidFill>
              <a:srgbClr val="D8E9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49840" y="19476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9B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RP-05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149840" y="23134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Recibos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149840" y="27706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8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o impreso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3232" y="375818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B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debemos confirmar con el cliente?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731520" y="4416552"/>
            <a:ext cx="118872" cy="118872"/>
          </a:xfrm>
          <a:prstGeom prst="ellipse">
            <a:avLst/>
          </a:prstGeom>
          <a:solidFill>
            <a:srgbClr val="0A9B81"/>
          </a:solidFill>
          <a:ln w="12700">
            <a:solidFill>
              <a:srgbClr val="0A9B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4984" y="4315968"/>
            <a:ext cx="10058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38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¿Cuántos días antes se marca amarillo?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31520" y="4892040"/>
            <a:ext cx="118872" cy="118872"/>
          </a:xfrm>
          <a:prstGeom prst="ellipse">
            <a:avLst/>
          </a:prstGeom>
          <a:solidFill>
            <a:srgbClr val="0A9B81"/>
          </a:solidFill>
          <a:ln w="12700">
            <a:solidFill>
              <a:srgbClr val="0A9B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4984" y="4791456"/>
            <a:ext cx="10058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38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funciona la renovación anticipada?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31520" y="5367528"/>
            <a:ext cx="118872" cy="118872"/>
          </a:xfrm>
          <a:prstGeom prst="ellipse">
            <a:avLst/>
          </a:prstGeom>
          <a:solidFill>
            <a:srgbClr val="0A9B81"/>
          </a:solidFill>
          <a:ln w="12700">
            <a:solidFill>
              <a:srgbClr val="0A9B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4984" y="5266944"/>
            <a:ext cx="10058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38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diferenciamos efectivo y transferencias?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13232" y="5971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9B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EXCLUSIONES INICIALES: sin torniquetes, biometría ni control automático de puertas.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Universidad de los Llanos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Gym · FitLife Barrio</dc:title>
  <dc:subject>Primera entrevista simulada – FitLife Barrio</dc:subject>
  <dc:creator>Equipo Control Gym · Universidad de los Llanos</dc:creator>
  <cp:lastModifiedBy>Equipo Control Gym · Universidad de los Llanos</cp:lastModifiedBy>
  <cp:revision>1</cp:revision>
  <dcterms:created xsi:type="dcterms:W3CDTF">2026-10-25T23:31:20Z</dcterms:created>
  <dcterms:modified xsi:type="dcterms:W3CDTF">2026-10-25T23:31:20Z</dcterms:modified>
</cp:coreProperties>
</file>